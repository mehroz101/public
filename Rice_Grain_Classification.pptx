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6323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63238"/>
                </a:solidFill>
                <a:latin typeface="Arial"/>
              </a:rPr>
              <a:t>Recall % per Class &amp;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Arborio</c:v>
                  </c:pt>
                  <c:pt idx="1">
                    <c:v>Basmati</c:v>
                  </c:pt>
                  <c:pt idx="2">
                    <c:v>Ipsala</c:v>
                  </c:pt>
                  <c:pt idx="3">
                    <c:v>Jasmine</c:v>
                  </c:pt>
                  <c:pt idx="4">
                    <c:v>Karacadag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83</c:v>
                </c:pt>
                <c:pt idx="2">
                  <c:v>99</c:v>
                </c:pt>
                <c:pt idx="3">
                  <c:v>2</c:v>
                </c:pt>
                <c:pt idx="4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E7D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Arborio</c:v>
                  </c:pt>
                  <c:pt idx="1">
                    <c:v>Basmati</c:v>
                  </c:pt>
                  <c:pt idx="2">
                    <c:v>Ipsala</c:v>
                  </c:pt>
                  <c:pt idx="3">
                    <c:v>Jasmine</c:v>
                  </c:pt>
                  <c:pt idx="4">
                    <c:v>Karacadag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57</c:v>
                </c:pt>
                <c:pt idx="1">
                  <c:v>75</c:v>
                </c:pt>
                <c:pt idx="2">
                  <c:v>99</c:v>
                </c:pt>
                <c:pt idx="3">
                  <c:v>87</c:v>
                </c:pt>
                <c:pt idx="4">
                  <c:v>74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KNN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Arborio</c:v>
                  </c:pt>
                  <c:pt idx="1">
                    <c:v>Basmati</c:v>
                  </c:pt>
                  <c:pt idx="2">
                    <c:v>Ipsala</c:v>
                  </c:pt>
                  <c:pt idx="3">
                    <c:v>Jasmine</c:v>
                  </c:pt>
                  <c:pt idx="4">
                    <c:v>Karacadag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58</c:v>
                </c:pt>
                <c:pt idx="1">
                  <c:v>76</c:v>
                </c:pt>
                <c:pt idx="2">
                  <c:v>99</c:v>
                </c:pt>
                <c:pt idx="3">
                  <c:v>86</c:v>
                </c:pt>
                <c:pt idx="4">
                  <c:v>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4F9F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 Accuracy (%)</c:v>
                </c:pt>
              </c:strCache>
            </c:strRef>
          </c:tx>
          <c:spPr>
            <a:solidFill>
              <a:srgbClr val="2E7D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Regression</c:v>
                  </c:pt>
                  <c:pt idx="1">
                    <c:v>SVM</c:v>
                  </c:pt>
                  <c:pt idx="2">
                    <c:v>Random Forest</c:v>
                  </c:pt>
                  <c:pt idx="3">
                    <c:v>KNN</c:v>
                  </c:pt>
                  <c:pt idx="4">
                    <c:v>Decision Tree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</c:v>
                </c:pt>
                <c:pt idx="1">
                  <c:v>92</c:v>
                </c:pt>
                <c:pt idx="2">
                  <c:v>88</c:v>
                </c:pt>
                <c:pt idx="3">
                  <c:v>85</c:v>
                </c:pt>
                <c:pt idx="4">
                  <c:v>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Accuracy (%)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Regression</c:v>
                  </c:pt>
                  <c:pt idx="1">
                    <c:v>SVM</c:v>
                  </c:pt>
                  <c:pt idx="2">
                    <c:v>Random Forest</c:v>
                  </c:pt>
                  <c:pt idx="3">
                    <c:v>KNN</c:v>
                  </c:pt>
                  <c:pt idx="4">
                    <c:v>Decision Tree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63.61</c:v>
                </c:pt>
                <c:pt idx="2">
                  <c:v>78.4</c:v>
                </c:pt>
                <c:pt idx="3">
                  <c:v>77.56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Grain Classification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Image Processing &amp; Machine Learning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320040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88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&amp; Extending IEEE ICICT-2020 Paper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 •  Random Forest  •  KNN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OpenCV  •  scikit-learn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4297680"/>
            <a:ext cx="2286000" cy="502920"/>
          </a:xfrm>
          <a:prstGeom prst="rect">
            <a:avLst>
              <a:gd name="adj" fmla="val 909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297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Level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114300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544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 rice classification?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02920" cy="114300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10972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Paper (IEEE 2020)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5544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did &amp; achieved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31720"/>
            <a:ext cx="502920" cy="114300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3172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4231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8803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features, models &amp; code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3317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331720"/>
            <a:ext cx="502920" cy="114300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33172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24231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8803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accuracy vs paper's accuracy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57600"/>
            <a:ext cx="502920" cy="114300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5760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37490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2062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identified in the paper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57600"/>
            <a:ext cx="502920" cy="114300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5760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7490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42062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HOG/LBP, CNN, real-world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rice varieties exist in global markets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classification is slow, costly &amp; error-prone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experts can misclassify visually similar grains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scale demands consistent, fast sorting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931920" cy="356616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66420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grain features using image processing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supervised ML classifiers on extracted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classification with high accuracy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industrial-grade sorting systems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Paper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Title: 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"Rice Grain Classification using Image Processing &amp; Machine Learning Techniques"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 Authors: 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Arora, Bhagat, Saritha LR, Arcot — SIES Graduate School of Technology, Navi Mumbai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Published: 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ICICT-2020  (5th International Conference on Inventive Computation Technologies)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1920240" cy="228600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651760"/>
            <a:ext cx="1920240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51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27248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rice varieties: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Surti Kolam, Idli Rice,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Grain Basmati,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Boiled Rice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8880" y="2651760"/>
            <a:ext cx="1920240" cy="228600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2651760"/>
            <a:ext cx="1920240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651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127248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features: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Breadth, Area,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Major/Minor Axis,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Eccentricity, L/B Ratio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2651760"/>
            <a:ext cx="1920240" cy="228600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651760"/>
            <a:ext cx="1920240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651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127248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Tree, KNN,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LDA,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SVM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75120" y="2651760"/>
            <a:ext cx="1920240" cy="228600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2651760"/>
            <a:ext cx="1920240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651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3127248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Accuracy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 92%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Methodology — Step by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194560" y="2606040"/>
            <a:ext cx="3200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920240" cy="374904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188720"/>
            <a:ext cx="640080" cy="640080"/>
          </a:xfrm>
          <a:prstGeom prst="ellipse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359152"/>
            <a:ext cx="10058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6888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DSLR 1300D camera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ISO setting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cm from grains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lighting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5112" y="2606040"/>
            <a:ext cx="3200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96312" y="1097280"/>
            <a:ext cx="1920240" cy="374904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6392" y="1188720"/>
            <a:ext cx="640080" cy="640080"/>
          </a:xfrm>
          <a:prstGeom prst="ellipse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6392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42032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53512" y="2359152"/>
            <a:ext cx="10058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246888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Python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Breadth, Area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Major/Minor Axis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Eccentricity, L/B Ratio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CSV file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55664" y="2606040"/>
            <a:ext cx="3200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1097280"/>
            <a:ext cx="1920240" cy="374904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66944" y="1188720"/>
            <a:ext cx="640080" cy="640080"/>
          </a:xfrm>
          <a:prstGeom prst="ellipse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72584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84064" y="2359152"/>
            <a:ext cx="10058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246888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&amp; scatter plots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analysis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check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57416" y="1097280"/>
            <a:ext cx="1920240" cy="374904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97496" y="1188720"/>
            <a:ext cx="640080" cy="640080"/>
          </a:xfrm>
          <a:prstGeom prst="ellipse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97496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03136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214616" y="2359152"/>
            <a:ext cx="10058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8856" y="246888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algorithms tested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Logistic Regression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overall accuracy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 logged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82880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 (Kaggle)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Rice Image Dataset (Kaggle)
</a:t>
            </a:r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Classes: 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Arborio, Basmati, Ipsala, Jasmine, Karacadag
</a:t>
            </a:r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images (10,000 per class)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82880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Feature Extraction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(cv2)
</a:t>
            </a:r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Resize: 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× 100 px → Grayscale
</a:t>
            </a:r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Features: 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 Dev, Min, Max pixel intensity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8412480" cy="17830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Feature Extraction Code (Python)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extract_features(img):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= cv2.resize(img, (100, 100))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gray = cv2.cvtColor(img, cv2.COLOR_BGR2GRAY)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np.array([np.mean(gray), np.std(gray), np.min(gray), np.max(gray)])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18872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73152" cy="11887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234440"/>
            <a:ext cx="2560320" cy="32004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Config: kernel='linear'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618488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each sample in 4D space (mean, std, min, max). Finds the best hyperplane to separate 5 rice classes with maximum margin.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41448"/>
            <a:ext cx="8412480" cy="118872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41448"/>
            <a:ext cx="73152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32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2532888"/>
            <a:ext cx="256032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5328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Config: n_estimators=100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2916936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100 decision trees on random feature subsets. Combines their votes via majority to give a robust final prediction.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39896"/>
            <a:ext cx="8412480" cy="118872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39896"/>
            <a:ext cx="73152" cy="11887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8313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0" y="3831336"/>
            <a:ext cx="2560320" cy="32004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83133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Config: n_neighbors=5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4215384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test sample, finds the 5 closest training samples by Euclidean distance and assigns the most common class label.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Split: 70% training  |  30% testing  |  random_state=42  |  stratified sampling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Experimental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2651760" cy="2560320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2651760" cy="4114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63.61%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— simple statistical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can't separate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rice classes linearly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2651760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600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383280" y="2560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— ensemble trees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overlapping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spaces well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2651760" cy="25603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097280"/>
            <a:ext cx="265176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16002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77.56%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63640" y="2560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— density-based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matching, close to RF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slightly lower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65760" y="3749040"/>
          <a:ext cx="841248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vs Our Work — Comparison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383280"/>
                <a:gridCol w="33832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Paper (IEEE 2020)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Implementation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DSLR — 4 classes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— 5 classes, 50K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Geometric: L/B, Area, Eccentricity (6 feats)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Statistical: Mean, Std, Min, Max (4 feats)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Extraction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morphological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pixel-level statistics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 (Logistic Regression)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78.40% (Random Forest)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63.61%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Algorithms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algorithms including LDA, Naive Bayes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algorithms: SVM, RF, 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controlled lab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Kaggle 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clearly mentioned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70/30 train-test 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Paper vs Our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8412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480560"/>
            <a:ext cx="841248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Gap Reason: Paper used geometric morphological features (highly discriminative) vs our simple pixel statistics (less class-specific)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— What the Paper Missed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188720"/>
          </a:xfrm>
          <a:prstGeom prst="rect">
            <a:avLst/>
          </a:prstGeom>
          <a:solidFill>
            <a:srgbClr val="F4F9F6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02920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704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~25 samples visible per class in the paper results. Insufficient for statistical significance. No mention of dataset size.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188720"/>
          </a:xfrm>
          <a:prstGeom prst="rect">
            <a:avLst/>
          </a:prstGeom>
          <a:solidFill>
            <a:srgbClr val="F4F9F6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02920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11704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Environment Only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55448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captured in a lab with DSLR at fixed distance. Does not account for real-world lighting variation, dust, or broken grains.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114800" cy="1188720"/>
          </a:xfrm>
          <a:prstGeom prst="rect">
            <a:avLst/>
          </a:prstGeom>
          <a:solidFill>
            <a:srgbClr val="F4F9F6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23160"/>
            <a:ext cx="502920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231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4963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Deep Learning Baseline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88036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CNN comparison provided. In 2020, CNNs had already shown &gt;99% on similar tasks. The paper ignores this benchmark entirely.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423160"/>
            <a:ext cx="4114800" cy="1188720"/>
          </a:xfrm>
          <a:prstGeom prst="rect">
            <a:avLst/>
          </a:prstGeom>
          <a:solidFill>
            <a:srgbClr val="F4F9F6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423160"/>
            <a:ext cx="502920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4231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24963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Cross-Validation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88036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mention of k-fold CV. Results may be overfit to a specific train/test split, making generalization claims unreliable.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4114800" cy="1188720"/>
          </a:xfrm>
          <a:prstGeom prst="rect">
            <a:avLst/>
          </a:prstGeom>
          <a:solidFill>
            <a:srgbClr val="F4F9F6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49040"/>
            <a:ext cx="502920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4904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8221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Rice Varieties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20624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Indian rice types (Kolam, Idli, Basmati, Boiled). Does not generalize to global varieties like Jasmine, Arborio, Karacadag.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749040"/>
            <a:ext cx="4114800" cy="1188720"/>
          </a:xfrm>
          <a:prstGeom prst="rect">
            <a:avLst/>
          </a:prstGeom>
          <a:solidFill>
            <a:srgbClr val="F4F9F6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749040"/>
            <a:ext cx="502920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74904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38221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Texture Features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420624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HOG, LBP, or GLCM features used. Texture is a critical differentiator for rice varieties and is completely ignored.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Improvements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18872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02920" cy="118872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704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+ LBP 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Histogram of Oriented Gradients &amp; Local Binary Patterns to capture shape and texture — expected 90%+ accuracy with classical ML.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18872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02920" cy="118872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1704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(CNN)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55448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ResNet-18 or MobileNet on the Kaggle dataset. Modern CNNs consistently achieve 99%+ on rice classification tasks.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114800" cy="118872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23160"/>
            <a:ext cx="502920" cy="118872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231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963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Features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88036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paper's approach: extract length, breadth, area, eccentricity, major/minor axis — directly comparable to paper's 97%.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423160"/>
            <a:ext cx="4114800" cy="118872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423160"/>
            <a:ext cx="502920" cy="118872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4231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4963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Dataset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88036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Kaggle (5 classes) + paper's 4 classes = 9-class global dataset. Address both Indian and international varieties.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4114800" cy="118872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49040"/>
            <a:ext cx="502920" cy="118872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4904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38221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Validation (k-fold)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20624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5-fold or 10-fold cross-validation instead of single train/test split for statistically reliable accuracy estimates.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749040"/>
            <a:ext cx="4114800" cy="1188720"/>
          </a:xfrm>
          <a:prstGeom prst="rect">
            <a:avLst/>
          </a:prstGeom>
          <a:solidFill>
            <a:srgbClr val="F4F9F6"/>
          </a:solidFill>
          <a:ln w="12700">
            <a:solidFill>
              <a:srgbClr val="ECEF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749040"/>
            <a:ext cx="502920" cy="118872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74904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82219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420624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best model via a Flask REST API or mobile app for industrial grain sorting on a conveyor system.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2743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Successfully reproduced the paper's approach using Python, OpenCV &amp; scikit-learn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Random Forest achieved 78.40% — best among our 3 models on 5-class Kaggle dataset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38658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Validated that feature engineering is the #1 driver of classification accuracy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305409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 Performance gap vs paper (97%) is explained by simpler statistical vs geometric features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37216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Identified 6 research gaps in the paper: dataset size, no CNN, no CV, texture features...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43891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Clear roadmap: HOG/LBP → CNN → Deployment can close the accuracy gap significantly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"Feature engineering determines accuracy — our methodology is sound, our features need upgrading."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0" y="2788920"/>
            <a:ext cx="3657600" cy="3657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Rice Grain Classification using IP &amp; ML  |  IEEE ICICT-2020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Accuracy:  SVM 63.61%  •  KNN 77.56%  •  Random Forest 78.40%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Rice Grain Classification using ML</dc:title>
  <dc:subject>PptxGenJS Presentation</dc:subject>
  <dc:creator>PptxGenJS</dc:creator>
  <cp:lastModifiedBy>PptxGenJS</cp:lastModifiedBy>
  <cp:revision>1</cp:revision>
  <dcterms:created xsi:type="dcterms:W3CDTF">2026-05-14T17:05:58Z</dcterms:created>
  <dcterms:modified xsi:type="dcterms:W3CDTF">2026-05-14T17:05:58Z</dcterms:modified>
</cp:coreProperties>
</file>